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0"/>
  </p:notesMasterIdLst>
  <p:handoutMasterIdLst>
    <p:handoutMasterId r:id="rId21"/>
  </p:handoutMasterIdLst>
  <p:sldIdLst>
    <p:sldId id="264" r:id="rId2"/>
    <p:sldId id="266" r:id="rId3"/>
    <p:sldId id="267" r:id="rId4"/>
    <p:sldId id="362" r:id="rId5"/>
    <p:sldId id="279" r:id="rId6"/>
    <p:sldId id="268" r:id="rId7"/>
    <p:sldId id="285" r:id="rId8"/>
    <p:sldId id="280" r:id="rId9"/>
    <p:sldId id="278" r:id="rId10"/>
    <p:sldId id="282" r:id="rId11"/>
    <p:sldId id="283" r:id="rId12"/>
    <p:sldId id="284" r:id="rId13"/>
    <p:sldId id="300" r:id="rId14"/>
    <p:sldId id="363" r:id="rId15"/>
    <p:sldId id="364" r:id="rId16"/>
    <p:sldId id="361" r:id="rId17"/>
    <p:sldId id="365" r:id="rId18"/>
    <p:sldId id="281" r:id="rId1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82" d="100"/>
          <a:sy n="82" d="100"/>
        </p:scale>
        <p:origin x="150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15</a:t>
            </a:r>
          </a:p>
          <a:p>
            <a:pPr eaLnBrk="1" hangingPunct="1"/>
            <a:r>
              <a:rPr lang="fr-FR" altLang="fr-FR" dirty="0" err="1"/>
              <a:t>Random</a:t>
            </a:r>
            <a:r>
              <a:rPr lang="fr-FR" altLang="fr-FR" dirty="0"/>
              <a:t> Forest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forêts d'arbres décisionnels ont été formellement proposées en 2001 par Leo </a:t>
            </a:r>
            <a:r>
              <a:rPr lang="fr-FR" dirty="0" err="1"/>
              <a:t>Breiman</a:t>
            </a:r>
            <a:r>
              <a:rPr lang="fr-FR" dirty="0"/>
              <a:t> et Adèle </a:t>
            </a:r>
            <a:r>
              <a:rPr lang="fr-FR" dirty="0" err="1"/>
              <a:t>Cutler</a:t>
            </a:r>
            <a:endParaRPr lang="fr-FR" dirty="0"/>
          </a:p>
          <a:p>
            <a:r>
              <a:rPr lang="fr-FR" dirty="0"/>
              <a:t>Cet algorithme combine les concepts de sous-espaces aléatoires et de </a:t>
            </a:r>
            <a:r>
              <a:rPr lang="fr-FR" dirty="0" err="1"/>
              <a:t>bagging</a:t>
            </a:r>
            <a:endParaRPr lang="fr-FR" dirty="0"/>
          </a:p>
          <a:p>
            <a:r>
              <a:rPr lang="fr-FR" dirty="0"/>
              <a:t>L'algorithme des forêts d'arbres décisionnels effectue un apprentissage sur de multiples arbres de décision entraînés sur des sous-ensembles de données légèrement différents</a:t>
            </a:r>
          </a:p>
        </p:txBody>
      </p:sp>
    </p:spTree>
    <p:extLst>
      <p:ext uri="{BB962C8B-B14F-4D97-AF65-F5344CB8AC3E}">
        <p14:creationId xmlns:p14="http://schemas.microsoft.com/office/powerpoint/2010/main" val="3428597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2400" dirty="0"/>
              <a:t>On créé B nouveaux ensembles d'apprentissage par un double processus d'échantillonnage :</a:t>
            </a:r>
          </a:p>
          <a:p>
            <a:pPr lvl="1"/>
            <a:r>
              <a:rPr lang="fr-FR" sz="2000" dirty="0"/>
              <a:t>sur les observations, en utilisant un tirage avec remise d'un nombre N d'observations identique à celui des données d'origine</a:t>
            </a:r>
          </a:p>
          <a:p>
            <a:pPr lvl="1"/>
            <a:r>
              <a:rPr lang="fr-FR" sz="2000" dirty="0"/>
              <a:t>et sur les p prédicteurs, en n'en retenant qu'un échantillon de cardinal m &lt; </a:t>
            </a:r>
            <a:r>
              <a:rPr lang="fr-FR" sz="2000" dirty="0" err="1"/>
              <a:t>sqrt</a:t>
            </a:r>
            <a:r>
              <a:rPr lang="fr-FR" sz="2000" dirty="0"/>
              <a:t>(p)</a:t>
            </a:r>
          </a:p>
          <a:p>
            <a:pPr lvl="1"/>
            <a:r>
              <a:rPr lang="fr-FR" sz="2000" dirty="0"/>
              <a:t>Sur chaque échantillon, on entraîne un arbre de décision selon une des techniques connues, en limitant sa croissance par validation croisée</a:t>
            </a:r>
          </a:p>
          <a:p>
            <a:pPr lvl="1"/>
            <a:r>
              <a:rPr lang="fr-FR" sz="2000" dirty="0"/>
              <a:t>On stocke les B prédictions de la variable d'intérêt pour chaque observation d'origine.</a:t>
            </a:r>
          </a:p>
          <a:p>
            <a:pPr lvl="1"/>
            <a:r>
              <a:rPr lang="fr-FR" sz="2000" dirty="0"/>
              <a:t>La prédiction de la forêt aléatoire est alors un simple vote majoritaire</a:t>
            </a:r>
          </a:p>
          <a:p>
            <a:pPr lvl="1"/>
            <a:r>
              <a:rPr lang="fr-FR" sz="2000" dirty="0"/>
              <a:t>Le principal revers de cette méthode est que l'on perd l'aspect visuel des arbres de décision uniques</a:t>
            </a:r>
          </a:p>
        </p:txBody>
      </p:sp>
    </p:spTree>
    <p:extLst>
      <p:ext uri="{BB962C8B-B14F-4D97-AF65-F5344CB8AC3E}">
        <p14:creationId xmlns:p14="http://schemas.microsoft.com/office/powerpoint/2010/main" val="1192625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79AA96-9460-A972-2FFF-372DBDD0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4D6FF6-8E53-6101-CF7B-BFEC81DBE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8784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 est un modèle asymétrique</a:t>
            </a:r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8474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Random</a:t>
            </a:r>
            <a:r>
              <a:rPr lang="fr-FR" dirty="0"/>
              <a:t> Forest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sk.ensemble</a:t>
            </a:r>
            <a:r>
              <a:rPr lang="fr-FR" dirty="0"/>
              <a:t> as </a:t>
            </a:r>
            <a:r>
              <a:rPr lang="fr-FR" dirty="0" err="1"/>
              <a:t>rf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rf.RandomForestClassifier</a:t>
            </a:r>
            <a:r>
              <a:rPr lang="fr-FR" dirty="0"/>
              <a:t>(</a:t>
            </a:r>
            <a:r>
              <a:rPr lang="fr-FR" dirty="0" err="1"/>
              <a:t>n_estimators</a:t>
            </a:r>
            <a:r>
              <a:rPr lang="fr-FR" dirty="0"/>
              <a:t>=100)</a:t>
            </a:r>
          </a:p>
          <a:p>
            <a:r>
              <a:rPr lang="fr-FR" dirty="0"/>
              <a:t>Très puissant</a:t>
            </a:r>
          </a:p>
          <a:p>
            <a:pPr lvl="1"/>
            <a:r>
              <a:rPr lang="fr-FR" dirty="0"/>
              <a:t>Bien plus gourmand que </a:t>
            </a:r>
            <a:r>
              <a:rPr lang="fr-FR" dirty="0" err="1"/>
              <a:t>kNN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9699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Iris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https://cdn-images-1.medium.com/max/1200/1*IPLwmH-TJRhEWXW7uaetM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156209"/>
            <a:ext cx="5363354" cy="5184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9172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Importances des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précédents algorithmes ne permettaient pas de connaître l'importance de chaque </a:t>
            </a:r>
            <a:r>
              <a:rPr lang="fr-FR" dirty="0" err="1"/>
              <a:t>feature</a:t>
            </a:r>
            <a:endParaRPr lang="fr-FR" dirty="0"/>
          </a:p>
          <a:p>
            <a:r>
              <a:rPr lang="fr-FR" dirty="0"/>
              <a:t>Il est souvent utile de savoir les </a:t>
            </a:r>
            <a:r>
              <a:rPr lang="fr-FR" dirty="0" err="1"/>
              <a:t>features</a:t>
            </a:r>
            <a:r>
              <a:rPr lang="fr-FR" dirty="0"/>
              <a:t> prépondérantes</a:t>
            </a:r>
          </a:p>
          <a:p>
            <a:pPr lvl="1"/>
            <a:r>
              <a:rPr lang="fr-FR" dirty="0"/>
              <a:t>Et l'inverse celle qui ne le sont pas</a:t>
            </a:r>
          </a:p>
          <a:p>
            <a:pPr lvl="1"/>
            <a:r>
              <a:rPr lang="fr-FR" dirty="0"/>
              <a:t>Permet de faire baisser le nombre de dimension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1734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Importance </a:t>
            </a:r>
            <a:r>
              <a:rPr lang="fr-FR" dirty="0" err="1"/>
              <a:t>Feature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forest.feature_importances</a:t>
            </a:r>
            <a:r>
              <a:rPr lang="fr-FR" dirty="0"/>
              <a:t>_</a:t>
            </a:r>
          </a:p>
          <a:p>
            <a:pPr lvl="1"/>
            <a:r>
              <a:rPr lang="fr-FR" dirty="0"/>
              <a:t>Permet de donner pour chaque </a:t>
            </a:r>
            <a:r>
              <a:rPr lang="fr-FR" dirty="0" err="1"/>
              <a:t>feature</a:t>
            </a:r>
            <a:r>
              <a:rPr lang="fr-FR" dirty="0"/>
              <a:t> son importance sur 1</a:t>
            </a:r>
          </a:p>
        </p:txBody>
      </p:sp>
    </p:spTree>
    <p:extLst>
      <p:ext uri="{BB962C8B-B14F-4D97-AF65-F5344CB8AC3E}">
        <p14:creationId xmlns:p14="http://schemas.microsoft.com/office/powerpoint/2010/main" val="2784811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Sérialisation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Transformation d’un objet en binaire</a:t>
            </a:r>
          </a:p>
          <a:p>
            <a:pPr lvl="1"/>
            <a:r>
              <a:rPr lang="fr-FR" dirty="0"/>
              <a:t>Sérialisation</a:t>
            </a:r>
          </a:p>
          <a:p>
            <a:pPr lvl="1"/>
            <a:r>
              <a:rPr lang="fr-FR" dirty="0" err="1"/>
              <a:t>Marshalling</a:t>
            </a:r>
            <a:endParaRPr lang="fr-FR" dirty="0"/>
          </a:p>
          <a:p>
            <a:r>
              <a:rPr lang="fr-FR" dirty="0"/>
              <a:t>Transformation inverse</a:t>
            </a:r>
          </a:p>
          <a:p>
            <a:pPr lvl="1"/>
            <a:r>
              <a:rPr lang="fr-FR" dirty="0" err="1"/>
              <a:t>Désérialisation</a:t>
            </a:r>
            <a:endParaRPr lang="fr-FR" dirty="0"/>
          </a:p>
          <a:p>
            <a:pPr lvl="1"/>
            <a:r>
              <a:rPr lang="fr-FR" dirty="0" err="1"/>
              <a:t>Unmarshalling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1513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fr-FR" dirty="0" err="1"/>
              <a:t>C'est</a:t>
            </a:r>
            <a:r>
              <a:rPr lang="en-GB" altLang="fr-FR" dirty="0"/>
              <a:t> un module </a:t>
            </a:r>
            <a:r>
              <a:rPr lang="en-GB" altLang="fr-FR" dirty="0" err="1"/>
              <a:t>étonnant</a:t>
            </a:r>
            <a:r>
              <a:rPr lang="en-GB" altLang="fr-FR" dirty="0"/>
              <a:t> qui </a:t>
            </a:r>
            <a:r>
              <a:rPr lang="en-GB" altLang="fr-FR" dirty="0" err="1"/>
              <a:t>peut</a:t>
            </a:r>
            <a:r>
              <a:rPr lang="en-GB" altLang="fr-FR" dirty="0"/>
              <a:t> </a:t>
            </a:r>
            <a:r>
              <a:rPr lang="en-GB" altLang="fr-FR" dirty="0" err="1"/>
              <a:t>prendre</a:t>
            </a:r>
            <a:r>
              <a:rPr lang="en-GB" altLang="fr-FR" dirty="0"/>
              <a:t> </a:t>
            </a:r>
            <a:r>
              <a:rPr lang="en-GB" altLang="fr-FR" dirty="0" err="1"/>
              <a:t>presque</a:t>
            </a:r>
            <a:r>
              <a:rPr lang="en-GB" altLang="fr-FR" dirty="0"/>
              <a:t> </a:t>
            </a:r>
            <a:r>
              <a:rPr lang="en-GB" altLang="fr-FR" dirty="0" err="1"/>
              <a:t>n'importe</a:t>
            </a:r>
            <a:r>
              <a:rPr lang="en-GB" altLang="fr-FR" dirty="0"/>
              <a:t> </a:t>
            </a:r>
            <a:r>
              <a:rPr lang="en-GB" altLang="fr-FR" dirty="0" err="1"/>
              <a:t>quel</a:t>
            </a:r>
            <a:r>
              <a:rPr lang="en-GB" altLang="fr-FR" dirty="0"/>
              <a:t> objet Python, et le </a:t>
            </a:r>
            <a:r>
              <a:rPr lang="en-GB" altLang="fr-FR" dirty="0" err="1"/>
              <a:t>convertir</a:t>
            </a:r>
            <a:r>
              <a:rPr lang="en-GB" altLang="fr-FR" dirty="0"/>
              <a:t> </a:t>
            </a:r>
            <a:r>
              <a:rPr lang="en-GB" altLang="fr-FR" dirty="0" err="1"/>
              <a:t>en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représentation</a:t>
            </a:r>
            <a:r>
              <a:rPr lang="en-GB" altLang="fr-FR" dirty="0"/>
              <a:t> sous </a:t>
            </a:r>
            <a:r>
              <a:rPr lang="en-GB" altLang="fr-FR" dirty="0" err="1"/>
              <a:t>forme</a:t>
            </a:r>
            <a:r>
              <a:rPr lang="en-GB" altLang="fr-FR" dirty="0"/>
              <a:t> de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endParaRPr lang="en-GB" altLang="fr-FR" dirty="0"/>
          </a:p>
          <a:p>
            <a:r>
              <a:rPr lang="en-GB" altLang="fr-FR" dirty="0"/>
              <a:t>Ce </a:t>
            </a:r>
            <a:r>
              <a:rPr lang="en-GB" altLang="fr-FR" dirty="0" err="1"/>
              <a:t>processus</a:t>
            </a:r>
            <a:r>
              <a:rPr lang="en-GB" altLang="fr-FR" dirty="0"/>
              <a:t> </a:t>
            </a:r>
            <a:r>
              <a:rPr lang="en-GB" altLang="fr-FR" dirty="0" err="1"/>
              <a:t>s'appelle</a:t>
            </a:r>
            <a:r>
              <a:rPr lang="en-GB" altLang="fr-FR" dirty="0"/>
              <a:t> </a:t>
            </a:r>
            <a:r>
              <a:rPr lang="en-GB" altLang="fr-FR" b="1" dirty="0"/>
              <a:t>pickling</a:t>
            </a:r>
            <a:endParaRPr lang="en-GB" altLang="fr-FR" dirty="0"/>
          </a:p>
          <a:p>
            <a:r>
              <a:rPr lang="en-GB" altLang="fr-FR" dirty="0" err="1"/>
              <a:t>Reconstruire</a:t>
            </a:r>
            <a:r>
              <a:rPr lang="en-GB" altLang="fr-FR" dirty="0"/>
              <a:t> </a:t>
            </a:r>
            <a:r>
              <a:rPr lang="en-GB" altLang="fr-FR" dirty="0" err="1"/>
              <a:t>l'objet</a:t>
            </a:r>
            <a:r>
              <a:rPr lang="en-GB" altLang="fr-FR" dirty="0"/>
              <a:t> à </a:t>
            </a:r>
            <a:r>
              <a:rPr lang="en-GB" altLang="fr-FR" dirty="0" err="1"/>
              <a:t>partir</a:t>
            </a:r>
            <a:r>
              <a:rPr lang="en-GB" altLang="fr-FR" dirty="0"/>
              <a:t> de </a:t>
            </a:r>
            <a:r>
              <a:rPr lang="en-GB" altLang="fr-FR" dirty="0" err="1"/>
              <a:t>sa</a:t>
            </a:r>
            <a:r>
              <a:rPr lang="en-GB" altLang="fr-FR" dirty="0"/>
              <a:t> </a:t>
            </a:r>
            <a:r>
              <a:rPr lang="en-GB" altLang="fr-FR" dirty="0" err="1"/>
              <a:t>représentation</a:t>
            </a:r>
            <a:r>
              <a:rPr lang="en-GB" altLang="fr-FR" dirty="0"/>
              <a:t> </a:t>
            </a:r>
            <a:r>
              <a:rPr lang="en-GB" altLang="fr-FR" dirty="0" err="1"/>
              <a:t>en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r>
              <a:rPr lang="en-GB" altLang="fr-FR" dirty="0"/>
              <a:t> </a:t>
            </a:r>
            <a:r>
              <a:rPr lang="en-GB" altLang="fr-FR" dirty="0" err="1"/>
              <a:t>s'appelle</a:t>
            </a:r>
            <a:r>
              <a:rPr lang="en-GB" altLang="fr-FR" dirty="0"/>
              <a:t> </a:t>
            </a:r>
            <a:r>
              <a:rPr lang="en-GB" altLang="fr-FR" b="1" dirty="0" err="1"/>
              <a:t>unpickling</a:t>
            </a:r>
            <a:endParaRPr lang="en-GB" altLang="fr-FR" dirty="0"/>
          </a:p>
          <a:p>
            <a:pPr lvl="1"/>
            <a:r>
              <a:rPr lang="en-GB" altLang="fr-FR" dirty="0"/>
              <a:t>Entre pickling et </a:t>
            </a:r>
            <a:r>
              <a:rPr lang="en-GB" altLang="fr-FR" dirty="0" err="1"/>
              <a:t>unpickling</a:t>
            </a:r>
            <a:r>
              <a:rPr lang="en-GB" altLang="fr-FR" dirty="0"/>
              <a:t>, la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caractères</a:t>
            </a:r>
            <a:r>
              <a:rPr lang="en-GB" altLang="fr-FR" dirty="0"/>
              <a:t> </a:t>
            </a:r>
            <a:r>
              <a:rPr lang="en-GB" altLang="fr-FR" dirty="0" err="1"/>
              <a:t>représentant</a:t>
            </a:r>
            <a:r>
              <a:rPr lang="en-GB" altLang="fr-FR" dirty="0"/>
              <a:t> </a:t>
            </a:r>
            <a:r>
              <a:rPr lang="en-GB" altLang="fr-FR" dirty="0" err="1"/>
              <a:t>l'objet</a:t>
            </a:r>
            <a:r>
              <a:rPr lang="en-GB" altLang="fr-FR" dirty="0"/>
              <a:t> a </a:t>
            </a:r>
            <a:r>
              <a:rPr lang="en-GB" altLang="fr-FR" dirty="0" err="1"/>
              <a:t>pu</a:t>
            </a:r>
            <a:r>
              <a:rPr lang="en-GB" altLang="fr-FR" dirty="0"/>
              <a:t> </a:t>
            </a:r>
            <a:r>
              <a:rPr lang="en-GB" altLang="fr-FR" dirty="0" err="1"/>
              <a:t>avoir</a:t>
            </a:r>
            <a:r>
              <a:rPr lang="en-GB" altLang="fr-FR" dirty="0"/>
              <a:t> </a:t>
            </a:r>
            <a:r>
              <a:rPr lang="en-GB" altLang="fr-FR" dirty="0" err="1"/>
              <a:t>été</a:t>
            </a:r>
            <a:r>
              <a:rPr lang="en-GB" altLang="fr-FR" dirty="0"/>
              <a:t> </a:t>
            </a:r>
            <a:r>
              <a:rPr lang="en-GB" altLang="fr-FR" dirty="0" err="1"/>
              <a:t>enregistrée</a:t>
            </a:r>
            <a:r>
              <a:rPr lang="en-GB" altLang="fr-FR" dirty="0"/>
              <a:t> </a:t>
            </a:r>
            <a:r>
              <a:rPr lang="en-GB" altLang="fr-FR" dirty="0" err="1"/>
              <a:t>dans</a:t>
            </a:r>
            <a:r>
              <a:rPr lang="en-GB" altLang="fr-FR" dirty="0"/>
              <a:t> un </a:t>
            </a:r>
            <a:r>
              <a:rPr lang="en-GB" altLang="fr-FR" dirty="0" err="1"/>
              <a:t>fichier</a:t>
            </a:r>
            <a:r>
              <a:rPr lang="en-GB" altLang="fr-FR" dirty="0"/>
              <a:t>, </a:t>
            </a:r>
            <a:r>
              <a:rPr lang="en-GB" altLang="fr-FR" dirty="0" err="1"/>
              <a:t>ou</a:t>
            </a:r>
            <a:r>
              <a:rPr lang="en-GB" altLang="fr-FR" dirty="0"/>
              <a:t> </a:t>
            </a:r>
            <a:r>
              <a:rPr lang="en-GB" altLang="fr-FR" dirty="0" err="1"/>
              <a:t>avoir</a:t>
            </a:r>
            <a:r>
              <a:rPr lang="en-GB" altLang="fr-FR" dirty="0"/>
              <a:t> </a:t>
            </a:r>
            <a:r>
              <a:rPr lang="en-GB" altLang="fr-FR" dirty="0" err="1"/>
              <a:t>été</a:t>
            </a:r>
            <a:r>
              <a:rPr lang="en-GB" altLang="fr-FR" dirty="0"/>
              <a:t> </a:t>
            </a:r>
            <a:r>
              <a:rPr lang="en-GB" altLang="fr-FR" dirty="0" err="1"/>
              <a:t>envoyée</a:t>
            </a:r>
            <a:r>
              <a:rPr lang="en-GB" altLang="fr-FR" dirty="0"/>
              <a:t> à </a:t>
            </a:r>
            <a:r>
              <a:rPr lang="en-GB" altLang="fr-FR" dirty="0" err="1"/>
              <a:t>une</a:t>
            </a:r>
            <a:r>
              <a:rPr lang="en-GB" altLang="fr-FR" dirty="0"/>
              <a:t> machine </a:t>
            </a:r>
            <a:r>
              <a:rPr lang="en-GB" altLang="fr-FR" dirty="0" err="1"/>
              <a:t>éloignée</a:t>
            </a:r>
            <a:r>
              <a:rPr lang="en-GB" altLang="fr-FR" dirty="0"/>
              <a:t> via </a:t>
            </a:r>
            <a:r>
              <a:rPr lang="en-GB" altLang="fr-FR" dirty="0" err="1"/>
              <a:t>une</a:t>
            </a:r>
            <a:r>
              <a:rPr lang="en-GB" altLang="fr-FR" dirty="0"/>
              <a:t> connexion </a:t>
            </a:r>
            <a:r>
              <a:rPr lang="en-GB" altLang="fr-FR" dirty="0" err="1"/>
              <a:t>réseau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1937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Pickle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avez un objet x, et un objet fichier f ouvert en écriture, la voie la plus simple de ``</a:t>
            </a:r>
            <a:r>
              <a:rPr lang="fr-FR" dirty="0" err="1"/>
              <a:t>pickler</a:t>
            </a:r>
            <a:r>
              <a:rPr lang="fr-FR" dirty="0"/>
              <a:t>'' l'objet prend seulement une ligne de code </a:t>
            </a:r>
          </a:p>
          <a:p>
            <a:pPr lvl="1"/>
            <a:r>
              <a:rPr lang="fr-FR" dirty="0" err="1"/>
              <a:t>pickle.dump</a:t>
            </a:r>
            <a:r>
              <a:rPr lang="fr-FR" dirty="0"/>
              <a:t>(x, f)</a:t>
            </a:r>
          </a:p>
          <a:p>
            <a:r>
              <a:rPr lang="fr-FR" dirty="0"/>
              <a:t>Pour ``</a:t>
            </a:r>
            <a:r>
              <a:rPr lang="fr-FR" dirty="0" err="1"/>
              <a:t>unpickler</a:t>
            </a:r>
            <a:r>
              <a:rPr lang="fr-FR" dirty="0"/>
              <a:t>'' l'objet, si f est un objet fichier ouvert en lecture</a:t>
            </a:r>
          </a:p>
          <a:p>
            <a:pPr lvl="1"/>
            <a:r>
              <a:rPr lang="fr-FR" dirty="0"/>
              <a:t>x = </a:t>
            </a:r>
            <a:r>
              <a:rPr lang="fr-FR" dirty="0" err="1"/>
              <a:t>pickle.load</a:t>
            </a:r>
            <a:r>
              <a:rPr lang="fr-FR" dirty="0"/>
              <a:t>(f)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1266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C8CF-5940-5BF8-24F8-47088357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321F9-A7CC-0926-30B3-A801A51F4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endParaRPr lang="fr-FR" dirty="0"/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', format='csv')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1051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BE6160-1AC7-15A9-2C10-F6BBF5589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m2cgen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34B632D-8290-F272-4AAC-BF13DBE61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Convertir le RF en code C directement</a:t>
            </a:r>
          </a:p>
          <a:p>
            <a:r>
              <a:rPr lang="fr-FR" dirty="0"/>
              <a:t>import m2cgen as m2c</a:t>
            </a:r>
          </a:p>
          <a:p>
            <a:r>
              <a:rPr lang="fr-FR" dirty="0"/>
              <a:t>c = m2c.export_to_c(model)</a:t>
            </a:r>
          </a:p>
        </p:txBody>
      </p:sp>
    </p:spTree>
    <p:extLst>
      <p:ext uri="{BB962C8B-B14F-4D97-AF65-F5344CB8AC3E}">
        <p14:creationId xmlns:p14="http://schemas.microsoft.com/office/powerpoint/2010/main" val="3257570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E053F1-5B20-DA2D-1E88-3A281BA24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tree_lite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F91FE2-FDDB-4CF6-7A13-3720BC8F9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Exporte directement en un .</a:t>
            </a:r>
            <a:r>
              <a:rPr lang="fr-FR" dirty="0" err="1"/>
              <a:t>so</a:t>
            </a:r>
            <a:r>
              <a:rPr lang="fr-FR" dirty="0"/>
              <a:t> en C</a:t>
            </a:r>
          </a:p>
        </p:txBody>
      </p:sp>
    </p:spTree>
    <p:extLst>
      <p:ext uri="{BB962C8B-B14F-4D97-AF65-F5344CB8AC3E}">
        <p14:creationId xmlns:p14="http://schemas.microsoft.com/office/powerpoint/2010/main" val="122709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0984B-C31F-4507-B93B-379E1A983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236F60-43BF-4292-8C86-19259F6C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Open Neural Network Exchange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skl2onnx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[('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float_input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FloatTensorType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([None, 30]))]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onnx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convert_sklearn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(model,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initial_type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open("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model.onnx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 as f:</a:t>
            </a:r>
          </a:p>
          <a:p>
            <a:pPr marL="457200" lvl="1" indent="0">
              <a:buNone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f.write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onnx.SerializeToString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/>
              <a:t>.NET</a:t>
            </a:r>
          </a:p>
          <a:p>
            <a:pPr lvl="1"/>
            <a:r>
              <a:rPr lang="fr-FR" sz="2000" dirty="0"/>
              <a:t>new </a:t>
            </a:r>
            <a:r>
              <a:rPr lang="fr-FR" sz="2000" dirty="0" err="1"/>
              <a:t>InferenceSession</a:t>
            </a:r>
            <a:r>
              <a:rPr lang="fr-FR" sz="2000" dirty="0"/>
              <a:t>("</a:t>
            </a:r>
            <a:r>
              <a:rPr lang="fr-FR" sz="2000" dirty="0" err="1"/>
              <a:t>model.onnx</a:t>
            </a:r>
            <a:r>
              <a:rPr lang="fr-FR" sz="2000" dirty="0"/>
              <a:t>")</a:t>
            </a:r>
          </a:p>
          <a:p>
            <a:pPr lvl="1"/>
            <a:r>
              <a:rPr lang="fr-FR" sz="2000" dirty="0"/>
              <a:t>https://towardsdatascience.com/deploy-sci-kit-learn-models-in-net-core-applications-90e24e572f64</a:t>
            </a:r>
          </a:p>
        </p:txBody>
      </p:sp>
    </p:spTree>
    <p:extLst>
      <p:ext uri="{BB962C8B-B14F-4D97-AF65-F5344CB8AC3E}">
        <p14:creationId xmlns:p14="http://schemas.microsoft.com/office/powerpoint/2010/main" val="4017057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4F5717-66AE-5089-200F-05C3F698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skl2onnx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C97779-0864-C42B-1D5A-B98E19839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convertir un modèle RF en ONNX</a:t>
            </a:r>
          </a:p>
          <a:p>
            <a:r>
              <a:rPr lang="fr-FR" dirty="0"/>
              <a:t>Puis en C</a:t>
            </a:r>
          </a:p>
        </p:txBody>
      </p:sp>
    </p:spTree>
    <p:extLst>
      <p:ext uri="{BB962C8B-B14F-4D97-AF65-F5344CB8AC3E}">
        <p14:creationId xmlns:p14="http://schemas.microsoft.com/office/powerpoint/2010/main" val="1807147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Réentrainement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Après la solidification du modèle il peut être utile de </a:t>
            </a:r>
            <a:r>
              <a:rPr lang="fr-FR" dirty="0" err="1"/>
              <a:t>réentrainer</a:t>
            </a:r>
            <a:r>
              <a:rPr lang="fr-FR" dirty="0"/>
              <a:t> un modèle</a:t>
            </a:r>
          </a:p>
          <a:p>
            <a:pPr lvl="1"/>
            <a:r>
              <a:rPr lang="fr-FR" dirty="0"/>
              <a:t>Lors que l'on possède d'avantages de données</a:t>
            </a:r>
          </a:p>
          <a:p>
            <a:pPr lvl="1"/>
            <a:r>
              <a:rPr lang="fr-FR" dirty="0"/>
              <a:t>Utile si le premier apprentissage a été très couteux</a:t>
            </a:r>
          </a:p>
          <a:p>
            <a:pPr lvl="1"/>
            <a:r>
              <a:rPr lang="fr-FR" dirty="0" err="1"/>
              <a:t>RandomForestClassifier</a:t>
            </a:r>
            <a:r>
              <a:rPr lang="fr-FR" dirty="0"/>
              <a:t>(</a:t>
            </a:r>
            <a:r>
              <a:rPr lang="fr-FR" dirty="0" err="1"/>
              <a:t>warm_start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Part d'un seul arbre entrainé et le clone par </a:t>
            </a:r>
            <a:r>
              <a:rPr lang="fr-FR" dirty="0" err="1"/>
              <a:t>bagging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455311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6284</TotalTime>
  <Words>646</Words>
  <Application>Microsoft Office PowerPoint</Application>
  <PresentationFormat>Affichage à l'écran (4:3)</PresentationFormat>
  <Paragraphs>81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3" baseType="lpstr">
      <vt:lpstr>Arial</vt:lpstr>
      <vt:lpstr>Courier New</vt:lpstr>
      <vt:lpstr>Monotype Sorts</vt:lpstr>
      <vt:lpstr>Times New Roman</vt:lpstr>
      <vt:lpstr>cvc</vt:lpstr>
      <vt:lpstr>Présentation PowerPoint</vt:lpstr>
      <vt:lpstr>Random Forest</vt:lpstr>
      <vt:lpstr>Random Forest</vt:lpstr>
      <vt:lpstr>Présentation PowerPoint</vt:lpstr>
      <vt:lpstr>Asymétrie</vt:lpstr>
      <vt:lpstr>Random Forest</vt:lpstr>
      <vt:lpstr>Exemple Iris</vt:lpstr>
      <vt:lpstr>Importances des features</vt:lpstr>
      <vt:lpstr>Importance Feature</vt:lpstr>
      <vt:lpstr>Sérialisation du modèle</vt:lpstr>
      <vt:lpstr>Pickle</vt:lpstr>
      <vt:lpstr>Pickle</vt:lpstr>
      <vt:lpstr>EMLearn Python</vt:lpstr>
      <vt:lpstr>m2cgen</vt:lpstr>
      <vt:lpstr>tree_lite</vt:lpstr>
      <vt:lpstr>ONNX</vt:lpstr>
      <vt:lpstr>skl2onnx</vt:lpstr>
      <vt:lpstr>Réentrainement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356</cp:revision>
  <dcterms:created xsi:type="dcterms:W3CDTF">2000-04-10T19:33:12Z</dcterms:created>
  <dcterms:modified xsi:type="dcterms:W3CDTF">2026-04-28T12:30:48Z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