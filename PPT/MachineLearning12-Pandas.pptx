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4"/>
  </p:notesMasterIdLst>
  <p:handoutMasterIdLst>
    <p:handoutMasterId r:id="rId15"/>
  </p:handoutMasterIdLst>
  <p:sldIdLst>
    <p:sldId id="264" r:id="rId2"/>
    <p:sldId id="265" r:id="rId3"/>
    <p:sldId id="266" r:id="rId4"/>
    <p:sldId id="274" r:id="rId5"/>
    <p:sldId id="275" r:id="rId6"/>
    <p:sldId id="280" r:id="rId7"/>
    <p:sldId id="281" r:id="rId8"/>
    <p:sldId id="276" r:id="rId9"/>
    <p:sldId id="277" r:id="rId10"/>
    <p:sldId id="282" r:id="rId11"/>
    <p:sldId id="283" r:id="rId12"/>
    <p:sldId id="284" r:id="rId1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12</a:t>
            </a:r>
            <a:endParaRPr lang="fr-FR" altLang="fr-FR" dirty="0"/>
          </a:p>
          <a:p>
            <a:pPr eaLnBrk="1" hangingPunct="1"/>
            <a:r>
              <a:rPr lang="fr-FR" altLang="fr-FR" dirty="0"/>
              <a:t>Pandas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pouvoir enlever les données aberrante</a:t>
            </a:r>
          </a:p>
          <a:p>
            <a:r>
              <a:rPr lang="fr-FR" dirty="0"/>
              <a:t>Ou les données non significatives</a:t>
            </a:r>
          </a:p>
          <a:p>
            <a:r>
              <a:rPr lang="fr-FR" dirty="0"/>
              <a:t>Ou les données trop en dehors de l’écart type</a:t>
            </a:r>
          </a:p>
        </p:txBody>
      </p:sp>
      <p:pic>
        <p:nvPicPr>
          <p:cNvPr id="1026" name="Picture 2" descr="Comment détecter des événements rares comme le point rouge?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284984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6912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Interprétation après 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pouvons filtrer les surfaces &gt; 300</a:t>
            </a:r>
          </a:p>
          <a:p>
            <a:r>
              <a:rPr lang="fr-FR" dirty="0"/>
              <a:t>Avec </a:t>
            </a:r>
            <a:r>
              <a:rPr lang="fr-FR" dirty="0" err="1"/>
              <a:t>SciPy</a:t>
            </a:r>
            <a:r>
              <a:rPr lang="fr-FR" dirty="0"/>
              <a:t> nous obtenons</a:t>
            </a:r>
          </a:p>
          <a:p>
            <a:pPr lvl="1"/>
            <a:r>
              <a:rPr lang="fr-FR" dirty="0"/>
              <a:t>Loyer = 34.Surface + 71</a:t>
            </a:r>
          </a:p>
          <a:p>
            <a:pPr lvl="1"/>
            <a:r>
              <a:rPr lang="fr-FR" dirty="0"/>
              <a:t>Corrélation = 84.7% (En baisse)</a:t>
            </a:r>
          </a:p>
          <a:p>
            <a:r>
              <a:rPr lang="fr-FR" dirty="0"/>
              <a:t>Meilleur résultat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3412666"/>
            <a:ext cx="4190237" cy="304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32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[« surface »]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(‘Colonne’,1)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Structure de la base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 err="1"/>
              <a:t>Wdbc.data</a:t>
            </a:r>
            <a:endParaRPr lang="fr-FR" sz="2000" dirty="0"/>
          </a:p>
          <a:p>
            <a:pPr lvl="1"/>
            <a:r>
              <a:rPr lang="fr-FR" sz="1800" dirty="0"/>
              <a:t>Id</a:t>
            </a:r>
          </a:p>
          <a:p>
            <a:pPr lvl="1"/>
            <a:r>
              <a:rPr lang="fr-FR" sz="1800" dirty="0"/>
              <a:t>Diagnostique M = Maligne, B = </a:t>
            </a:r>
            <a:r>
              <a:rPr lang="fr-FR" sz="1800" dirty="0" err="1"/>
              <a:t>Benigne</a:t>
            </a:r>
            <a:endParaRPr lang="fr-FR" sz="1800" dirty="0"/>
          </a:p>
          <a:p>
            <a:r>
              <a:rPr lang="fr-FR" sz="2000" dirty="0"/>
              <a:t>Les données biologique sont interprétés depuis l’image de la tumeur</a:t>
            </a:r>
          </a:p>
          <a:p>
            <a:pPr lvl="1"/>
            <a:r>
              <a:rPr lang="fr-FR" sz="1800" dirty="0"/>
              <a:t>Rayon</a:t>
            </a:r>
          </a:p>
          <a:p>
            <a:pPr lvl="1"/>
            <a:r>
              <a:rPr lang="fr-FR" sz="1800" dirty="0"/>
              <a:t>Texture (</a:t>
            </a:r>
            <a:r>
              <a:rPr lang="en-US" sz="1800" dirty="0"/>
              <a:t>standard deviation of gray-scale values)</a:t>
            </a:r>
          </a:p>
          <a:p>
            <a:pPr lvl="1"/>
            <a:r>
              <a:rPr lang="en-US" sz="1800" dirty="0" err="1"/>
              <a:t>Périmetre</a:t>
            </a:r>
            <a:endParaRPr lang="en-US" sz="1800" dirty="0"/>
          </a:p>
          <a:p>
            <a:pPr lvl="1"/>
            <a:r>
              <a:rPr lang="en-US" sz="1800" dirty="0" err="1"/>
              <a:t>Superficie</a:t>
            </a:r>
            <a:endParaRPr lang="en-US" sz="1800" dirty="0"/>
          </a:p>
          <a:p>
            <a:pPr lvl="1"/>
            <a:r>
              <a:rPr lang="en-US" sz="1800" dirty="0"/>
              <a:t>Smoothness (variation du rayon)</a:t>
            </a:r>
          </a:p>
          <a:p>
            <a:pPr lvl="1"/>
            <a:r>
              <a:rPr lang="en-US" sz="1800" dirty="0" err="1"/>
              <a:t>Compacité</a:t>
            </a:r>
            <a:r>
              <a:rPr lang="en-US" sz="1800" dirty="0"/>
              <a:t> (perimeter**2 / </a:t>
            </a:r>
            <a:r>
              <a:rPr lang="en-US" sz="1800" dirty="0" err="1"/>
              <a:t>superficie</a:t>
            </a:r>
            <a:r>
              <a:rPr lang="en-US" sz="1800" dirty="0"/>
              <a:t> – 1)</a:t>
            </a:r>
          </a:p>
          <a:p>
            <a:pPr lvl="1"/>
            <a:r>
              <a:rPr lang="en-US" sz="1800" dirty="0" err="1"/>
              <a:t>Concavité</a:t>
            </a:r>
            <a:r>
              <a:rPr lang="en-US" sz="1800" dirty="0"/>
              <a:t> (severity of concave portions of the contour)</a:t>
            </a:r>
          </a:p>
          <a:p>
            <a:pPr lvl="1"/>
            <a:r>
              <a:rPr lang="en-US" sz="1800" dirty="0"/>
              <a:t>Points concaves (</a:t>
            </a:r>
            <a:r>
              <a:rPr lang="en-US" sz="1800" dirty="0" err="1"/>
              <a:t>nombre</a:t>
            </a:r>
            <a:r>
              <a:rPr lang="en-US" sz="1800" dirty="0"/>
              <a:t> de portion concave)</a:t>
            </a:r>
          </a:p>
          <a:p>
            <a:pPr lvl="1"/>
            <a:r>
              <a:rPr lang="en-US" sz="1800" dirty="0" err="1"/>
              <a:t>Symetrie</a:t>
            </a:r>
            <a:endParaRPr lang="en-US" sz="1800" dirty="0"/>
          </a:p>
          <a:p>
            <a:pPr lvl="1"/>
            <a:r>
              <a:rPr lang="en-US" sz="1800" dirty="0"/>
              <a:t>Dimension </a:t>
            </a:r>
            <a:r>
              <a:rPr lang="en-US" sz="1800" dirty="0" err="1"/>
              <a:t>Fractale</a:t>
            </a:r>
            <a:r>
              <a:rPr lang="en-US" sz="1800" dirty="0"/>
              <a:t> (</a:t>
            </a:r>
            <a:r>
              <a:rPr lang="fr-FR" sz="1800" dirty="0"/>
              <a:t>"</a:t>
            </a:r>
            <a:r>
              <a:rPr lang="fr-FR" sz="1800" dirty="0" err="1"/>
              <a:t>coastline</a:t>
            </a:r>
            <a:r>
              <a:rPr lang="fr-FR" sz="1800" dirty="0"/>
              <a:t> approximation" – 1)</a:t>
            </a:r>
            <a:endParaRPr lang="en-US" sz="18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998" y="2852936"/>
            <a:ext cx="2448272" cy="2378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/>
              <a:t>Changement </a:t>
            </a:r>
            <a:r>
              <a:rPr lang="fr-FR" dirty="0"/>
              <a:t>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Correlations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Corr</a:t>
            </a:r>
            <a:r>
              <a:rPr lang="fr-FR" dirty="0"/>
              <a:t>() permet une </a:t>
            </a:r>
            <a:r>
              <a:rPr lang="fr-FR" dirty="0" err="1"/>
              <a:t>correlation</a:t>
            </a:r>
            <a:r>
              <a:rPr lang="fr-FR" dirty="0"/>
              <a:t> sur un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/>
              <a:t>Méthode Pearson</a:t>
            </a:r>
          </a:p>
          <a:p>
            <a:pPr lvl="1"/>
            <a:r>
              <a:rPr lang="fr-FR"/>
              <a:t>Retourne </a:t>
            </a:r>
            <a:r>
              <a:rPr lang="fr-FR" dirty="0"/>
              <a:t>une matrice de confusion</a:t>
            </a:r>
          </a:p>
        </p:txBody>
      </p:sp>
    </p:spTree>
    <p:extLst>
      <p:ext uri="{BB962C8B-B14F-4D97-AF65-F5344CB8AC3E}">
        <p14:creationId xmlns:p14="http://schemas.microsoft.com/office/powerpoint/2010/main" val="301149125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3922</TotalTime>
  <Words>484</Words>
  <Application>Microsoft Office PowerPoint</Application>
  <PresentationFormat>Affichage à l'écran (4:3)</PresentationFormat>
  <Paragraphs>74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 données</vt:lpstr>
      <vt:lpstr>Import de données</vt:lpstr>
      <vt:lpstr>Filtrage</vt:lpstr>
      <vt:lpstr>Interprétation après filtrage</vt:lpstr>
      <vt:lpstr>Filtrage</vt:lpstr>
      <vt:lpstr>Structure de la base</vt:lpstr>
      <vt:lpstr>Filtrage</vt:lpstr>
      <vt:lpstr>Describe</vt:lpstr>
      <vt:lpstr>Correlations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user91</cp:lastModifiedBy>
  <cp:revision>260</cp:revision>
  <dcterms:created xsi:type="dcterms:W3CDTF">2000-04-10T19:33:12Z</dcterms:created>
  <dcterms:modified xsi:type="dcterms:W3CDTF">2026-01-27T13:36:25Z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