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28"/>
  </p:notesMasterIdLst>
  <p:handoutMasterIdLst>
    <p:handoutMasterId r:id="rId29"/>
  </p:handoutMasterIdLst>
  <p:sldIdLst>
    <p:sldId id="264" r:id="rId2"/>
    <p:sldId id="265" r:id="rId3"/>
    <p:sldId id="266" r:id="rId4"/>
    <p:sldId id="267" r:id="rId5"/>
    <p:sldId id="286" r:id="rId6"/>
    <p:sldId id="287" r:id="rId7"/>
    <p:sldId id="268" r:id="rId8"/>
    <p:sldId id="283" r:id="rId9"/>
    <p:sldId id="284" r:id="rId10"/>
    <p:sldId id="285" r:id="rId11"/>
    <p:sldId id="276" r:id="rId12"/>
    <p:sldId id="277" r:id="rId13"/>
    <p:sldId id="281" r:id="rId14"/>
    <p:sldId id="300" r:id="rId15"/>
    <p:sldId id="301" r:id="rId16"/>
    <p:sldId id="302" r:id="rId17"/>
    <p:sldId id="303" r:id="rId18"/>
    <p:sldId id="304" r:id="rId19"/>
    <p:sldId id="305" r:id="rId20"/>
    <p:sldId id="270" r:id="rId21"/>
    <p:sldId id="273" r:id="rId22"/>
    <p:sldId id="306" r:id="rId23"/>
    <p:sldId id="269" r:id="rId24"/>
    <p:sldId id="274" r:id="rId25"/>
    <p:sldId id="307" r:id="rId26"/>
    <p:sldId id="310" r:id="rId27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590" autoAdjust="0"/>
  </p:normalViewPr>
  <p:slideViewPr>
    <p:cSldViewPr>
      <p:cViewPr varScale="1">
        <p:scale>
          <a:sx n="82" d="100"/>
          <a:sy n="82" d="100"/>
        </p:scale>
        <p:origin x="150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Chapitre 14</a:t>
            </a:r>
            <a:endParaRPr lang="fr-FR" altLang="fr-FR" dirty="0"/>
          </a:p>
          <a:p>
            <a:pPr eaLnBrk="1" hangingPunct="1"/>
            <a:r>
              <a:rPr lang="fr-FR" altLang="fr-FR" dirty="0" err="1"/>
              <a:t>Nearest</a:t>
            </a:r>
            <a:r>
              <a:rPr lang="fr-FR" altLang="fr-FR" dirty="0"/>
              <a:t> Neighbors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37" y="5023445"/>
            <a:ext cx="6715125" cy="1285875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3107495" y="2132856"/>
            <a:ext cx="29290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/>
              <a:t>Data Science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8560" y="2972129"/>
            <a:ext cx="3067050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 dirty="0" err="1"/>
              <a:t>Nearest</a:t>
            </a:r>
            <a:r>
              <a:rPr lang="fr-FR" altLang="fr-FR" dirty="0"/>
              <a:t> Neighbors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k-NN est le diminutif de k </a:t>
            </a:r>
            <a:r>
              <a:rPr lang="fr-FR" dirty="0" err="1"/>
              <a:t>Nearest</a:t>
            </a:r>
            <a:r>
              <a:rPr lang="fr-FR" dirty="0"/>
              <a:t> Neighbors</a:t>
            </a:r>
          </a:p>
          <a:p>
            <a:r>
              <a:rPr lang="fr-FR" dirty="0"/>
              <a:t>C’est un algorithme qui peut servir autant pour la classification que la régression</a:t>
            </a:r>
          </a:p>
          <a:p>
            <a:r>
              <a:rPr lang="fr-FR" dirty="0"/>
              <a:t>Son principe est de choisir les k données les plus proches du point étudié afin d’en prédire sa valeur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98605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Explication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Quelle est la classe de la nouvelle données (en blanc) ?</a:t>
            </a:r>
          </a:p>
          <a:p>
            <a:pPr marL="0" indent="0">
              <a:buNone/>
            </a:pPr>
            <a:endParaRPr lang="fr-FR" dirty="0"/>
          </a:p>
          <a:p>
            <a:endParaRPr lang="fr-FR" dirty="0"/>
          </a:p>
        </p:txBody>
      </p:sp>
      <p:pic>
        <p:nvPicPr>
          <p:cNvPr id="1028" name="Picture 4" descr="le point blanc est une nouvelle entré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2276872"/>
            <a:ext cx="5112568" cy="3507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4069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knn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Nous allons regarder la distance avec les k voisins les plus proches</a:t>
            </a:r>
          </a:p>
          <a:p>
            <a:pPr lvl="1"/>
            <a:r>
              <a:rPr lang="fr-FR" dirty="0"/>
              <a:t>Ici 5</a:t>
            </a:r>
          </a:p>
          <a:p>
            <a:pPr lvl="1"/>
            <a:r>
              <a:rPr lang="fr-FR" dirty="0"/>
              <a:t>Rouge</a:t>
            </a:r>
          </a:p>
        </p:txBody>
      </p:sp>
      <p:pic>
        <p:nvPicPr>
          <p:cNvPr id="2050" name="Picture 2" descr="les 5 points les plus proches du point que l'on cherche à class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2564904"/>
            <a:ext cx="5256584" cy="3606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8754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Algorithmes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Il existe plusieurs algorithmes </a:t>
            </a:r>
            <a:r>
              <a:rPr lang="fr-FR" sz="2400" dirty="0" err="1"/>
              <a:t>knn</a:t>
            </a:r>
            <a:endParaRPr lang="fr-FR" sz="2400" dirty="0"/>
          </a:p>
          <a:p>
            <a:r>
              <a:rPr lang="fr-FR" sz="2400" dirty="0"/>
              <a:t>Brute Force</a:t>
            </a:r>
          </a:p>
          <a:p>
            <a:pPr lvl="1"/>
            <a:r>
              <a:rPr lang="fr-FR" sz="2000" dirty="0"/>
              <a:t>Etablit la distance entre tous les points</a:t>
            </a:r>
          </a:p>
          <a:p>
            <a:pPr lvl="1"/>
            <a:r>
              <a:rPr lang="fr-FR" sz="2000" dirty="0"/>
              <a:t>Très bon, mais très couteux pour les gros </a:t>
            </a:r>
            <a:r>
              <a:rPr lang="fr-FR" sz="2000" dirty="0" err="1"/>
              <a:t>datasets</a:t>
            </a:r>
            <a:endParaRPr lang="fr-FR" sz="2000" dirty="0"/>
          </a:p>
          <a:p>
            <a:pPr lvl="1"/>
            <a:r>
              <a:rPr lang="fr-FR" sz="2000" dirty="0"/>
              <a:t>O(n²)</a:t>
            </a:r>
          </a:p>
          <a:p>
            <a:r>
              <a:rPr lang="fr-FR" sz="2400" dirty="0" err="1"/>
              <a:t>KDTree</a:t>
            </a:r>
            <a:endParaRPr lang="fr-FR" sz="2400" dirty="0"/>
          </a:p>
          <a:p>
            <a:pPr lvl="1"/>
            <a:r>
              <a:rPr lang="fr-FR" sz="2000" dirty="0"/>
              <a:t>Elimine des distances</a:t>
            </a:r>
          </a:p>
          <a:p>
            <a:pPr lvl="1"/>
            <a:r>
              <a:rPr lang="fr-FR" sz="2000" dirty="0"/>
              <a:t>Si A est loin de B et B proche de C alors A est loin de C</a:t>
            </a:r>
          </a:p>
          <a:p>
            <a:pPr lvl="1"/>
            <a:r>
              <a:rPr lang="fr-FR" sz="2000" dirty="0"/>
              <a:t>O(n.log(n))</a:t>
            </a:r>
          </a:p>
          <a:p>
            <a:r>
              <a:rPr lang="fr-FR" sz="2400" dirty="0" err="1"/>
              <a:t>BallTree</a:t>
            </a:r>
            <a:endParaRPr lang="fr-FR" sz="2400" dirty="0"/>
          </a:p>
          <a:p>
            <a:pPr lvl="1"/>
            <a:r>
              <a:rPr lang="fr-FR" sz="2000" dirty="0"/>
              <a:t>Sépare les données en partitions</a:t>
            </a:r>
          </a:p>
          <a:p>
            <a:pPr lvl="1"/>
            <a:r>
              <a:rPr lang="fr-FR" sz="2000" dirty="0"/>
              <a:t>Peut être très efficace ou très </a:t>
            </a:r>
            <a:r>
              <a:rPr lang="fr-FR" sz="2000" dirty="0" err="1"/>
              <a:t>inneficace</a:t>
            </a:r>
            <a:endParaRPr lang="fr-FR" sz="2000" dirty="0"/>
          </a:p>
          <a:p>
            <a:r>
              <a:rPr lang="fr-FR" sz="2400" dirty="0"/>
              <a:t>Par défaut </a:t>
            </a:r>
            <a:r>
              <a:rPr lang="fr-FR" sz="2400" dirty="0" err="1"/>
              <a:t>sklearn</a:t>
            </a:r>
            <a:r>
              <a:rPr lang="fr-FR" sz="2400" dirty="0"/>
              <a:t> essaie de choisir le meilleur</a:t>
            </a:r>
          </a:p>
        </p:txBody>
      </p:sp>
    </p:spTree>
    <p:extLst>
      <p:ext uri="{BB962C8B-B14F-4D97-AF65-F5344CB8AC3E}">
        <p14:creationId xmlns:p14="http://schemas.microsoft.com/office/powerpoint/2010/main" val="3462804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Modèle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sklearn.neighbors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as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nn</a:t>
            </a:r>
            <a:endParaRPr lang="fr-F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model =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nn.KNeighborsClassifier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n_neighbors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=3)</a:t>
            </a:r>
          </a:p>
          <a:p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model.fit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xtrain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ytrain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model.score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xtest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ytest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71691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Zonage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est ainsi aisé de déterminé un zonage pour catégorisé les points</a:t>
            </a:r>
          </a:p>
        </p:txBody>
      </p:sp>
      <p:pic>
        <p:nvPicPr>
          <p:cNvPr id="3074" name="Picture 2" descr="Les deux zones qui séparent l'espace pour la décision à prendre sur la classification de nouvelles entré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2564904"/>
            <a:ext cx="4762500" cy="3267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6793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Problème détecté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3" y="1412776"/>
            <a:ext cx="5256584" cy="5040560"/>
          </a:xfrm>
        </p:spPr>
        <p:txBody>
          <a:bodyPr/>
          <a:lstStyle/>
          <a:p>
            <a:r>
              <a:rPr lang="fr-FR" dirty="0"/>
              <a:t>Si k est trop faible nous obtenons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Nous aurions préféré</a:t>
            </a:r>
          </a:p>
          <a:p>
            <a:pPr lvl="1"/>
            <a:r>
              <a:rPr lang="fr-FR" dirty="0"/>
              <a:t>Pour cela nous sommes passé à k=5</a:t>
            </a:r>
          </a:p>
          <a:p>
            <a:endParaRPr lang="fr-FR" dirty="0"/>
          </a:p>
          <a:p>
            <a:endParaRPr lang="fr-FR" dirty="0"/>
          </a:p>
        </p:txBody>
      </p:sp>
      <p:pic>
        <p:nvPicPr>
          <p:cNvPr id="1026" name="Picture 2" descr="Les zones désignées par les flèches ne vont pas être bien classé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3593" y="1149225"/>
            <a:ext cx="3233978" cy="2207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lassifieur 5-nn sur le même jeu de données, beaucoup plus efficace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3593" y="3415634"/>
            <a:ext cx="3156313" cy="2154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1369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Biais vs Variance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3" y="1412776"/>
            <a:ext cx="8838058" cy="5040560"/>
          </a:xfrm>
        </p:spPr>
        <p:txBody>
          <a:bodyPr/>
          <a:lstStyle/>
          <a:p>
            <a:r>
              <a:rPr lang="fr-FR" dirty="0"/>
              <a:t>Avec k=5 notre modèle est plus indépendant du training set</a:t>
            </a:r>
          </a:p>
          <a:p>
            <a:pPr lvl="1"/>
            <a:r>
              <a:rPr lang="fr-FR" dirty="0"/>
              <a:t>Nous avons augmenté la variance</a:t>
            </a:r>
          </a:p>
          <a:p>
            <a:pPr lvl="1"/>
            <a:r>
              <a:rPr lang="fr-FR" dirty="0"/>
              <a:t>Cependant plus k est grand plus l’erreur sera grande</a:t>
            </a:r>
          </a:p>
          <a:p>
            <a:pPr lvl="1"/>
            <a:r>
              <a:rPr lang="fr-FR" dirty="0"/>
              <a:t>Nous avons introduit un biais</a:t>
            </a:r>
          </a:p>
          <a:p>
            <a:r>
              <a:rPr lang="fr-FR" dirty="0"/>
              <a:t>Avec k=1 la variance sera plus faible, l’erreur également</a:t>
            </a:r>
          </a:p>
          <a:p>
            <a:r>
              <a:rPr lang="fr-FR" dirty="0"/>
              <a:t>Par exemple pour k=12 </a:t>
            </a:r>
          </a:p>
          <a:p>
            <a:pPr lvl="1"/>
            <a:r>
              <a:rPr lang="fr-FR" dirty="0"/>
              <a:t>Le biais est énorme</a:t>
            </a:r>
          </a:p>
          <a:p>
            <a:endParaRPr lang="fr-FR" dirty="0"/>
          </a:p>
        </p:txBody>
      </p:sp>
      <p:pic>
        <p:nvPicPr>
          <p:cNvPr id="2050" name="Picture 2" descr="Parce qu'on a choisi un k trop grand, la zone de classification est trop lisse par rapport à la complexité du modè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4149448"/>
            <a:ext cx="3995936" cy="2743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2267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Décomposition </a:t>
            </a:r>
            <a:r>
              <a:rPr lang="fr-FR"/>
              <a:t>de l’erreur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L’erreur peut s’écrire</a:t>
            </a:r>
          </a:p>
          <a:p>
            <a:r>
              <a:rPr lang="fr-FR" dirty="0" err="1"/>
              <a:t>Err</a:t>
            </a:r>
            <a:r>
              <a:rPr lang="fr-FR" dirty="0"/>
              <a:t>(x</a:t>
            </a:r>
            <a:r>
              <a:rPr lang="fr-FR"/>
              <a:t>)=Biais²+Variance+Erreur </a:t>
            </a:r>
            <a:r>
              <a:rPr lang="fr-FR" dirty="0"/>
              <a:t>Irréductible</a:t>
            </a:r>
          </a:p>
          <a:p>
            <a:endParaRPr lang="fr-FR" dirty="0"/>
          </a:p>
        </p:txBody>
      </p:sp>
      <p:pic>
        <p:nvPicPr>
          <p:cNvPr id="3074" name="Picture 2" descr="On cherche à se placer au minimum de l'erreur tota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780928"/>
            <a:ext cx="5256584" cy="3301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04435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Minimisation de l’erreur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faut faire varier le </a:t>
            </a:r>
            <a:r>
              <a:rPr lang="fr-FR" dirty="0" err="1"/>
              <a:t>n_neighbors</a:t>
            </a:r>
            <a:r>
              <a:rPr lang="fr-FR" dirty="0"/>
              <a:t> entre 2 et 15</a:t>
            </a:r>
          </a:p>
          <a:p>
            <a:pPr marL="0" indent="0">
              <a:buNone/>
            </a:pPr>
            <a:r>
              <a:rPr lang="fr-F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errors</a:t>
            </a: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[]</a:t>
            </a:r>
          </a:p>
          <a:p>
            <a:pPr marL="0" indent="0">
              <a:buNone/>
            </a:pP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for k in range(2,15):</a:t>
            </a:r>
          </a:p>
          <a:p>
            <a:pPr marL="0" indent="0">
              <a:buNone/>
            </a:pP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model = </a:t>
            </a:r>
            <a:r>
              <a:rPr lang="fr-F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nn.KNeighborsClassifier</a:t>
            </a: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(k)</a:t>
            </a:r>
          </a:p>
          <a:p>
            <a:pPr marL="0" indent="0">
              <a:buNone/>
            </a:pP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errors.append</a:t>
            </a: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(1 - </a:t>
            </a:r>
            <a:r>
              <a:rPr lang="fr-F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model.fit</a:t>
            </a: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xtrain</a:t>
            </a: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F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ytrain</a:t>
            </a: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).score(</a:t>
            </a:r>
            <a:r>
              <a:rPr lang="fr-F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xtest</a:t>
            </a: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F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ytest</a:t>
            </a: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lvl="1"/>
            <a:r>
              <a:rPr lang="fr-FR" dirty="0"/>
              <a:t>Il essayer les différents algorithmes</a:t>
            </a:r>
          </a:p>
          <a:p>
            <a:pPr lvl="2"/>
            <a:r>
              <a:rPr lang="fr-FR" dirty="0"/>
              <a:t>Paramètre </a:t>
            </a:r>
            <a:r>
              <a:rPr lang="fr-FR" dirty="0" err="1"/>
              <a:t>algorithm</a:t>
            </a:r>
            <a:endParaRPr lang="fr-FR" dirty="0"/>
          </a:p>
          <a:p>
            <a:pPr lvl="1"/>
            <a:r>
              <a:rPr lang="fr-FR" dirty="0"/>
              <a:t>Il faut essayer les 2 poids</a:t>
            </a:r>
          </a:p>
          <a:p>
            <a:pPr lvl="2"/>
            <a:r>
              <a:rPr lang="fr-FR" dirty="0"/>
              <a:t>Paramètre </a:t>
            </a:r>
            <a:r>
              <a:rPr lang="fr-FR" dirty="0" err="1"/>
              <a:t>weight</a:t>
            </a:r>
            <a:r>
              <a:rPr lang="fr-FR" dirty="0"/>
              <a:t> = « distance » qui monte la distance au carré, c’est-à-dire qu’il donne plus d’importance aux points proches</a:t>
            </a:r>
          </a:p>
        </p:txBody>
      </p:sp>
    </p:spTree>
    <p:extLst>
      <p:ext uri="{BB962C8B-B14F-4D97-AF65-F5344CB8AC3E}">
        <p14:creationId xmlns:p14="http://schemas.microsoft.com/office/powerpoint/2010/main" val="1328403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Entrainement et prédiction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faut ensuite choisir le meilleur modèle, l’entrainer et mettre en place la prédiction</a:t>
            </a:r>
          </a:p>
          <a:p>
            <a:r>
              <a:rPr lang="fr-FR" dirty="0" err="1"/>
              <a:t>model.fit</a:t>
            </a:r>
            <a:r>
              <a:rPr lang="fr-FR" dirty="0"/>
              <a:t>(</a:t>
            </a:r>
            <a:r>
              <a:rPr lang="fr-FR" dirty="0" err="1"/>
              <a:t>xtrain</a:t>
            </a:r>
            <a:r>
              <a:rPr lang="fr-FR" dirty="0"/>
              <a:t>, </a:t>
            </a:r>
            <a:r>
              <a:rPr lang="fr-FR" dirty="0" err="1"/>
              <a:t>ytrain</a:t>
            </a:r>
            <a:r>
              <a:rPr lang="fr-FR" dirty="0"/>
              <a:t>)</a:t>
            </a:r>
          </a:p>
          <a:p>
            <a:r>
              <a:rPr lang="fr-FR" dirty="0" err="1"/>
              <a:t>predicted</a:t>
            </a:r>
            <a:r>
              <a:rPr lang="fr-FR" dirty="0"/>
              <a:t> = </a:t>
            </a:r>
            <a:r>
              <a:rPr lang="fr-FR" dirty="0" err="1"/>
              <a:t>model.predict</a:t>
            </a:r>
            <a:r>
              <a:rPr lang="fr-FR" dirty="0"/>
              <a:t>(</a:t>
            </a:r>
            <a:r>
              <a:rPr lang="fr-FR" dirty="0" err="1"/>
              <a:t>xtest</a:t>
            </a:r>
            <a:r>
              <a:rPr lang="fr-FR" dirty="0"/>
              <a:t>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207917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Résultats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K = 3</a:t>
            </a:r>
          </a:p>
          <a:p>
            <a:r>
              <a:rPr lang="fr-FR" dirty="0"/>
              <a:t>Erreur = 5%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630" y="2418352"/>
            <a:ext cx="4972050" cy="401955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130" y="2852936"/>
            <a:ext cx="3470551" cy="260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7147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C57991-295F-676A-405D-131800F3C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Heart</a:t>
            </a:r>
            <a:r>
              <a:rPr lang="fr-FR" dirty="0"/>
              <a:t> </a:t>
            </a:r>
            <a:r>
              <a:rPr lang="fr-FR" dirty="0" err="1"/>
              <a:t>Disease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BB788A-2A3D-4326-09EA-9DF3D9ED43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s'agit d'un </a:t>
            </a:r>
            <a:r>
              <a:rPr lang="fr-FR" dirty="0" err="1"/>
              <a:t>dataset</a:t>
            </a:r>
            <a:r>
              <a:rPr lang="fr-FR" dirty="0"/>
              <a:t> de 11 </a:t>
            </a:r>
            <a:r>
              <a:rPr lang="fr-FR" dirty="0" err="1"/>
              <a:t>features</a:t>
            </a:r>
            <a:r>
              <a:rPr lang="fr-FR" dirty="0"/>
              <a:t> sur 260 data</a:t>
            </a:r>
          </a:p>
          <a:p>
            <a:pPr lvl="1"/>
            <a:r>
              <a:rPr lang="fr-FR" dirty="0" err="1"/>
              <a:t>num</a:t>
            </a:r>
            <a:r>
              <a:rPr lang="fr-FR" dirty="0"/>
              <a:t> représente le diagnostique 1 = malade</a:t>
            </a:r>
          </a:p>
          <a:p>
            <a:r>
              <a:rPr lang="fr-FR" dirty="0"/>
              <a:t>Etude des poids</a:t>
            </a:r>
          </a:p>
          <a:p>
            <a:pPr lvl="1"/>
            <a:r>
              <a:rPr lang="fr-FR" dirty="0"/>
              <a:t>x = 10 </a:t>
            </a:r>
            <a:r>
              <a:rPr lang="fr-FR" dirty="0" err="1"/>
              <a:t>features</a:t>
            </a:r>
            <a:endParaRPr lang="fr-FR" dirty="0"/>
          </a:p>
          <a:p>
            <a:pPr lvl="1"/>
            <a:r>
              <a:rPr lang="fr-FR" dirty="0"/>
              <a:t>y = 1 </a:t>
            </a:r>
            <a:r>
              <a:rPr lang="fr-FR" dirty="0" err="1"/>
              <a:t>feature</a:t>
            </a:r>
            <a:endParaRPr lang="fr-FR" dirty="0"/>
          </a:p>
          <a:p>
            <a:pPr lvl="1"/>
            <a:r>
              <a:rPr lang="fr-FR" dirty="0" err="1"/>
              <a:t>xtrain</a:t>
            </a:r>
            <a:r>
              <a:rPr lang="fr-FR" dirty="0"/>
              <a:t> = 260*0.8*10 = 2080 data =&gt; 6.3Ko en 32 bits</a:t>
            </a:r>
          </a:p>
          <a:p>
            <a:pPr lvl="1"/>
            <a:endParaRPr lang="fr-FR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C7A4B40-DDBF-D07D-0ADB-3828339F53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7" y="4981499"/>
            <a:ext cx="9144000" cy="1925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76578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2A3D71-FD6B-386B-CD27-E1BF53FCB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Problématique de </a:t>
            </a:r>
            <a:r>
              <a:rPr lang="fr-FR" dirty="0" err="1"/>
              <a:t>kNN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9701372-25BC-4827-A1AC-77524D57B8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Démo de </a:t>
            </a:r>
            <a:r>
              <a:rPr lang="fr-FR" dirty="0" err="1"/>
              <a:t>kNN</a:t>
            </a:r>
            <a:r>
              <a:rPr lang="fr-FR" dirty="0"/>
              <a:t> sur </a:t>
            </a:r>
            <a:r>
              <a:rPr lang="fr-FR" dirty="0" err="1"/>
              <a:t>heart-disease</a:t>
            </a:r>
            <a:endParaRPr lang="fr-FR" dirty="0"/>
          </a:p>
          <a:p>
            <a:pPr lvl="1"/>
            <a:r>
              <a:rPr lang="fr-FR" dirty="0"/>
              <a:t>Ca ne marche pas très bien</a:t>
            </a:r>
          </a:p>
          <a:p>
            <a:pPr lvl="1"/>
            <a:r>
              <a:rPr lang="fr-FR" dirty="0"/>
              <a:t>Pourquoi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8430CD5-A86A-449A-BB77-9F5581F5A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1833" y="2527844"/>
            <a:ext cx="6392167" cy="418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8460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0F0183-F00F-B766-0F8F-D1DD1582F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Normalisation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81E71D4-0EEC-0214-FB84-A1F0738FA3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Pour mesurer des distances euclidiennes il faut comparer ce qui est comparable</a:t>
            </a:r>
          </a:p>
          <a:p>
            <a:pPr lvl="1"/>
            <a:r>
              <a:rPr lang="fr-FR" dirty="0"/>
              <a:t>Tout doit être sur le même facteur d'échelle</a:t>
            </a:r>
          </a:p>
          <a:p>
            <a:pPr lvl="1"/>
            <a:r>
              <a:rPr lang="fr-FR" dirty="0"/>
              <a:t>Il faut donc normaliser (</a:t>
            </a:r>
            <a:r>
              <a:rPr lang="fr-FR" dirty="0" err="1"/>
              <a:t>scaling</a:t>
            </a:r>
            <a:r>
              <a:rPr lang="fr-FR" dirty="0"/>
              <a:t>) les données</a:t>
            </a:r>
          </a:p>
          <a:p>
            <a:pPr lvl="1"/>
            <a:r>
              <a:rPr lang="en-US" dirty="0"/>
              <a:t>import </a:t>
            </a:r>
            <a:r>
              <a:rPr lang="en-US" dirty="0" err="1"/>
              <a:t>sklearn.preprocessing</a:t>
            </a:r>
            <a:r>
              <a:rPr lang="en-US" dirty="0"/>
              <a:t> as pp</a:t>
            </a:r>
          </a:p>
          <a:p>
            <a:r>
              <a:rPr lang="en-US" dirty="0"/>
              <a:t>Le scaler fait </a:t>
            </a:r>
            <a:r>
              <a:rPr lang="en-US" dirty="0" err="1"/>
              <a:t>partie</a:t>
            </a:r>
            <a:r>
              <a:rPr lang="en-US" dirty="0"/>
              <a:t> du </a:t>
            </a:r>
            <a:r>
              <a:rPr lang="en-US" dirty="0" err="1"/>
              <a:t>modèle</a:t>
            </a:r>
            <a:endParaRPr lang="en-US" dirty="0"/>
          </a:p>
          <a:p>
            <a:pPr lvl="1"/>
            <a:r>
              <a:rPr lang="en-US" dirty="0"/>
              <a:t>Si un </a:t>
            </a:r>
            <a:r>
              <a:rPr lang="en-US" dirty="0" err="1"/>
              <a:t>modèle</a:t>
            </a:r>
            <a:r>
              <a:rPr lang="en-US" dirty="0"/>
              <a:t> </a:t>
            </a:r>
            <a:r>
              <a:rPr lang="en-US" dirty="0" err="1"/>
              <a:t>apprend</a:t>
            </a:r>
            <a:r>
              <a:rPr lang="en-US" dirty="0"/>
              <a:t> avec un scaler, la </a:t>
            </a:r>
            <a:r>
              <a:rPr lang="en-US" dirty="0" err="1"/>
              <a:t>prédiction</a:t>
            </a:r>
            <a:r>
              <a:rPr lang="en-US" dirty="0"/>
              <a:t> doit </a:t>
            </a:r>
            <a:r>
              <a:rPr lang="en-US" dirty="0" err="1"/>
              <a:t>utiliser</a:t>
            </a:r>
            <a:r>
              <a:rPr lang="en-US" dirty="0"/>
              <a:t> des données </a:t>
            </a:r>
            <a:r>
              <a:rPr lang="en-US" dirty="0" err="1"/>
              <a:t>scalées</a:t>
            </a:r>
            <a:endParaRPr lang="en-US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814807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8E06FD-2B1C-C465-57E0-9A5FD644A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MinMaxScaler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C8D862C-15A0-057B-CD86-C761091EB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Pour chaque </a:t>
            </a:r>
            <a:r>
              <a:rPr lang="fr-FR" dirty="0" err="1"/>
              <a:t>feature</a:t>
            </a:r>
            <a:r>
              <a:rPr lang="fr-FR" dirty="0"/>
              <a:t> calculer le min et le max et normaliser sur [0..1]</a:t>
            </a:r>
          </a:p>
          <a:p>
            <a:r>
              <a:rPr lang="fr-FR" dirty="0" err="1"/>
              <a:t>scaler</a:t>
            </a:r>
            <a:r>
              <a:rPr lang="fr-FR" dirty="0"/>
              <a:t>(x) = (x – min) / (max – min)</a:t>
            </a:r>
          </a:p>
          <a:p>
            <a:r>
              <a:rPr lang="fr-FR" dirty="0" err="1"/>
              <a:t>Scaler</a:t>
            </a:r>
            <a:r>
              <a:rPr lang="fr-FR" dirty="0"/>
              <a:t> efficace</a:t>
            </a:r>
          </a:p>
          <a:p>
            <a:pPr lvl="1"/>
            <a:r>
              <a:rPr lang="fr-FR" dirty="0"/>
              <a:t>Mauvaise gestion des </a:t>
            </a:r>
            <a:r>
              <a:rPr lang="fr-FR" dirty="0" err="1"/>
              <a:t>outfits</a:t>
            </a:r>
            <a:endParaRPr lang="fr-FR" dirty="0"/>
          </a:p>
          <a:p>
            <a:r>
              <a:rPr lang="fr-FR" dirty="0" err="1"/>
              <a:t>scaler</a:t>
            </a:r>
            <a:r>
              <a:rPr lang="fr-FR" dirty="0"/>
              <a:t> = </a:t>
            </a:r>
            <a:r>
              <a:rPr lang="fr-FR" dirty="0" err="1"/>
              <a:t>pp.MinMaxScaler</a:t>
            </a:r>
            <a:r>
              <a:rPr lang="fr-FR" dirty="0"/>
              <a:t>()</a:t>
            </a:r>
          </a:p>
          <a:p>
            <a:r>
              <a:rPr lang="fr-FR" dirty="0" err="1"/>
              <a:t>scaler.fit</a:t>
            </a:r>
            <a:r>
              <a:rPr lang="fr-FR" dirty="0"/>
              <a:t>(</a:t>
            </a:r>
            <a:r>
              <a:rPr lang="fr-FR" dirty="0" err="1"/>
              <a:t>xtrain</a:t>
            </a:r>
            <a:r>
              <a:rPr lang="fr-FR" dirty="0"/>
              <a:t>)</a:t>
            </a:r>
          </a:p>
          <a:p>
            <a:r>
              <a:rPr lang="fr-FR" dirty="0" err="1"/>
              <a:t>xtrain</a:t>
            </a:r>
            <a:r>
              <a:rPr lang="fr-FR" dirty="0"/>
              <a:t> = </a:t>
            </a:r>
            <a:r>
              <a:rPr lang="fr-FR" dirty="0" err="1"/>
              <a:t>scaler.transform</a:t>
            </a:r>
            <a:r>
              <a:rPr lang="fr-FR" dirty="0"/>
              <a:t>(</a:t>
            </a:r>
            <a:r>
              <a:rPr lang="fr-FR" dirty="0" err="1"/>
              <a:t>xtrain</a:t>
            </a:r>
            <a:r>
              <a:rPr lang="fr-FR" dirty="0"/>
              <a:t>)</a:t>
            </a:r>
          </a:p>
          <a:p>
            <a:r>
              <a:rPr lang="fr-FR" dirty="0" err="1"/>
              <a:t>xtest</a:t>
            </a:r>
            <a:r>
              <a:rPr lang="fr-FR" dirty="0"/>
              <a:t> = </a:t>
            </a:r>
            <a:r>
              <a:rPr lang="fr-FR" dirty="0" err="1"/>
              <a:t>scaler.transform</a:t>
            </a:r>
            <a:r>
              <a:rPr lang="fr-FR" dirty="0"/>
              <a:t>(</a:t>
            </a:r>
            <a:r>
              <a:rPr lang="fr-FR" dirty="0" err="1"/>
              <a:t>xtest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063030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Loi normale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est fréquent de considérer que les valeurs se répartissent selon une courbe de Gauss</a:t>
            </a:r>
          </a:p>
          <a:p>
            <a:pPr lvl="1"/>
            <a:r>
              <a:rPr lang="fr-FR" dirty="0"/>
              <a:t>Dans le cas des sciences sociales, par exemple, la moyenne et l'écart type permettent de déterminer un intervalle dans lequel on trouve une majorité de la population</a:t>
            </a:r>
          </a:p>
          <a:p>
            <a:pPr lvl="1"/>
            <a:endParaRPr lang="fr-FR" dirty="0"/>
          </a:p>
        </p:txBody>
      </p:sp>
      <p:pic>
        <p:nvPicPr>
          <p:cNvPr id="4098" name="Picture 2" descr="https://upload.wikimedia.org/wikipedia/commons/thumb/8/8c/Standard_deviation_diagram.svg/400px-Standard_deviation_diagram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4221088"/>
            <a:ext cx="3810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34326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Ecart type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Mesure la dispersion des variables</a:t>
            </a:r>
          </a:p>
          <a:p>
            <a:pPr lvl="1"/>
            <a:r>
              <a:rPr lang="fr-FR" dirty="0"/>
              <a:t>Racine carrée de la variance</a:t>
            </a:r>
          </a:p>
          <a:p>
            <a:pPr lvl="1"/>
            <a:r>
              <a:rPr lang="fr-FR" dirty="0"/>
              <a:t>Moyenne est écarts par rapport à une moyenne</a:t>
            </a:r>
          </a:p>
          <a:p>
            <a:pPr lvl="1"/>
            <a:r>
              <a:rPr lang="fr-FR" dirty="0"/>
              <a:t>Souvent noté sigma</a:t>
            </a:r>
          </a:p>
          <a:p>
            <a:r>
              <a:rPr lang="fr-FR" dirty="0"/>
              <a:t>Voici 2 échantillons avec la même moyenne mais des écarts types différents</a:t>
            </a:r>
          </a:p>
        </p:txBody>
      </p:sp>
      <p:pic>
        <p:nvPicPr>
          <p:cNvPr id="3074" name="Picture 2" descr="https://upload.wikimedia.org/wikipedia/commons/thumb/f/f9/Comparison_standard_deviations.svg/612px-Comparison_standard_deviations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6792" y="4149081"/>
            <a:ext cx="3071450" cy="2273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00326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Stats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Outils pour les statistiques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écart type</a:t>
            </a:r>
          </a:p>
          <a:p>
            <a:pPr lvl="1"/>
            <a:r>
              <a:rPr lang="fr-FR" dirty="0" err="1"/>
              <a:t>np.std</a:t>
            </a:r>
            <a:r>
              <a:rPr lang="fr-FR" dirty="0"/>
              <a:t>()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2060848"/>
            <a:ext cx="6457366" cy="172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4521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Théorème centrale limite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Soit une matrice aléatoire avec des valeurs [-n, n]</a:t>
            </a:r>
          </a:p>
          <a:p>
            <a:pPr lvl="1"/>
            <a:r>
              <a:rPr lang="fr-FR" dirty="0"/>
              <a:t>La moyenne et la somme est 0</a:t>
            </a:r>
          </a:p>
          <a:p>
            <a:pPr lvl="1"/>
            <a:r>
              <a:rPr lang="fr-FR" dirty="0"/>
              <a:t>La distribution des sommes des lignes est gaussienne centrée sur 0</a:t>
            </a:r>
          </a:p>
          <a:p>
            <a:pPr lvl="1"/>
            <a:r>
              <a:rPr lang="fr-FR" dirty="0"/>
              <a:t>Médiane = moyenne</a:t>
            </a:r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412348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C879E6-7CC0-4EF3-CD51-B8D9FFD2D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StandardScaler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6515957-0254-78DE-558C-C28A6D222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Normalise les données entre [-</a:t>
            </a:r>
            <a:r>
              <a:rPr lang="fr-FR" dirty="0" err="1"/>
              <a:t>inf</a:t>
            </a:r>
            <a:r>
              <a:rPr lang="fr-FR" dirty="0"/>
              <a:t>;+</a:t>
            </a:r>
            <a:r>
              <a:rPr lang="fr-FR" dirty="0" err="1"/>
              <a:t>inf</a:t>
            </a:r>
            <a:r>
              <a:rPr lang="fr-FR" dirty="0"/>
              <a:t>] centrées sur zéro avec un écart type à 1</a:t>
            </a:r>
          </a:p>
          <a:p>
            <a:pPr lvl="1"/>
            <a:r>
              <a:rPr lang="fr-FR" dirty="0"/>
              <a:t>C'est mathématiquement une loi centrée réduite</a:t>
            </a:r>
          </a:p>
          <a:p>
            <a:pPr lvl="1"/>
            <a:r>
              <a:rPr lang="fr-FR" dirty="0"/>
              <a:t>On calcul pour chaque </a:t>
            </a:r>
            <a:r>
              <a:rPr lang="fr-FR" dirty="0" err="1"/>
              <a:t>feature</a:t>
            </a:r>
            <a:r>
              <a:rPr lang="fr-FR" dirty="0"/>
              <a:t> la moyenne et l'écart type</a:t>
            </a:r>
          </a:p>
          <a:p>
            <a:r>
              <a:rPr lang="fr-FR" dirty="0" err="1"/>
              <a:t>scaler</a:t>
            </a:r>
            <a:r>
              <a:rPr lang="fr-FR" dirty="0"/>
              <a:t>(x) = (x – </a:t>
            </a:r>
            <a:r>
              <a:rPr lang="fr-FR" dirty="0" err="1"/>
              <a:t>mean</a:t>
            </a:r>
            <a:r>
              <a:rPr lang="fr-FR" dirty="0"/>
              <a:t>) / std</a:t>
            </a:r>
          </a:p>
          <a:p>
            <a:pPr lvl="1"/>
            <a:r>
              <a:rPr lang="fr-FR" dirty="0"/>
              <a:t>Ne fonctionne pas correctement si la distribution n'est pas une loi normale</a:t>
            </a:r>
          </a:p>
          <a:p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218215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Cas non gaussien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distribution des salaire en France ne suit pas une gaussienne</a:t>
            </a:r>
          </a:p>
          <a:p>
            <a:pPr lvl="1"/>
            <a:r>
              <a:rPr lang="fr-FR" dirty="0"/>
              <a:t>C’est une gaussienne asymétrique</a:t>
            </a:r>
          </a:p>
          <a:p>
            <a:r>
              <a:rPr lang="fr-FR" dirty="0"/>
              <a:t>La moyenne et l’écart type n’ont pas de sens</a:t>
            </a:r>
          </a:p>
          <a:p>
            <a:r>
              <a:rPr lang="fr-FR" dirty="0"/>
              <a:t>Il faut utilise la médiane et les *iles</a:t>
            </a:r>
          </a:p>
          <a:p>
            <a:r>
              <a:rPr lang="fr-FR" dirty="0"/>
              <a:t>Exemple</a:t>
            </a:r>
          </a:p>
          <a:p>
            <a:pPr lvl="1"/>
            <a:r>
              <a:rPr lang="fr-FR" dirty="0"/>
              <a:t>Salaire équivalent temps plein net</a:t>
            </a:r>
          </a:p>
          <a:p>
            <a:pPr lvl="1"/>
            <a:r>
              <a:rPr lang="fr-FR" dirty="0"/>
              <a:t>Salaire moyen : 2250 €</a:t>
            </a:r>
          </a:p>
          <a:p>
            <a:pPr lvl="1"/>
            <a:r>
              <a:rPr lang="fr-FR" dirty="0"/>
              <a:t>Salaire médian : 1797 €</a:t>
            </a:r>
          </a:p>
          <a:p>
            <a:pPr lvl="1"/>
            <a:endParaRPr lang="fr-FR" dirty="0"/>
          </a:p>
        </p:txBody>
      </p:sp>
      <p:pic>
        <p:nvPicPr>
          <p:cNvPr id="5122" name="Picture 2" descr="Résultat de recherche d'images pour &quot;distribution des salaires en france&quot;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7864" y="3789040"/>
            <a:ext cx="3367370" cy="2262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09074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Cas non gaussiens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Median</a:t>
            </a:r>
            <a:endParaRPr lang="fr-FR" dirty="0"/>
          </a:p>
          <a:p>
            <a:pPr lvl="1"/>
            <a:r>
              <a:rPr lang="fr-FR" dirty="0"/>
              <a:t>Médiane</a:t>
            </a:r>
          </a:p>
          <a:p>
            <a:pPr lvl="1"/>
            <a:r>
              <a:rPr lang="fr-FR" dirty="0"/>
              <a:t>50% des valeurs au dessous et 50% </a:t>
            </a:r>
            <a:r>
              <a:rPr lang="fr-FR"/>
              <a:t>au dessus</a:t>
            </a:r>
            <a:endParaRPr lang="fr-FR" dirty="0"/>
          </a:p>
          <a:p>
            <a:r>
              <a:rPr lang="fr-FR" dirty="0"/>
              <a:t>Quantile</a:t>
            </a:r>
          </a:p>
          <a:p>
            <a:pPr lvl="1"/>
            <a:r>
              <a:rPr lang="fr-FR" dirty="0"/>
              <a:t>Le 2</a:t>
            </a:r>
            <a:r>
              <a:rPr lang="fr-FR" baseline="30000" dirty="0"/>
              <a:t>ème</a:t>
            </a:r>
            <a:r>
              <a:rPr lang="fr-FR" dirty="0"/>
              <a:t> paramètre représente le quantile</a:t>
            </a:r>
          </a:p>
          <a:p>
            <a:pPr lvl="1"/>
            <a:r>
              <a:rPr lang="fr-FR" dirty="0"/>
              <a:t>0.5 = médiane</a:t>
            </a:r>
          </a:p>
          <a:p>
            <a:pPr lvl="1"/>
            <a:r>
              <a:rPr lang="fr-FR" dirty="0"/>
              <a:t>0.25 = quartile</a:t>
            </a:r>
          </a:p>
          <a:p>
            <a:pPr lvl="1"/>
            <a:r>
              <a:rPr lang="fr-FR" dirty="0"/>
              <a:t>0.1 = décile</a:t>
            </a:r>
          </a:p>
        </p:txBody>
      </p:sp>
      <p:pic>
        <p:nvPicPr>
          <p:cNvPr id="2050" name="Picture 2" descr="https://media.geeksforgeeks.org/wp-content/uploads/quantil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1042" y="4437112"/>
            <a:ext cx="3600400" cy="1921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40270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059B5-C550-FF7B-7B34-5DF193540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39D681-831F-5C16-8FDF-51789EE56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RobustScaler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15126D-5289-94E1-965C-0CD7014D7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Normalise les données entre [-</a:t>
            </a:r>
            <a:r>
              <a:rPr lang="fr-FR" dirty="0" err="1"/>
              <a:t>inf</a:t>
            </a:r>
            <a:r>
              <a:rPr lang="fr-FR" dirty="0"/>
              <a:t>;+</a:t>
            </a:r>
            <a:r>
              <a:rPr lang="fr-FR" dirty="0" err="1"/>
              <a:t>inf</a:t>
            </a:r>
            <a:r>
              <a:rPr lang="fr-FR" dirty="0"/>
              <a:t>] centrées sur zéro avec une médiane à 1</a:t>
            </a:r>
          </a:p>
          <a:p>
            <a:pPr lvl="1"/>
            <a:r>
              <a:rPr lang="fr-FR" dirty="0"/>
              <a:t>On calcul pour chaque </a:t>
            </a:r>
            <a:r>
              <a:rPr lang="fr-FR" dirty="0" err="1"/>
              <a:t>feature</a:t>
            </a:r>
            <a:r>
              <a:rPr lang="fr-FR" dirty="0"/>
              <a:t> la </a:t>
            </a:r>
            <a:r>
              <a:rPr lang="fr-FR" dirty="0" err="1"/>
              <a:t>médianne</a:t>
            </a:r>
            <a:r>
              <a:rPr lang="fr-FR" dirty="0"/>
              <a:t> et les quartiles</a:t>
            </a:r>
          </a:p>
          <a:p>
            <a:r>
              <a:rPr lang="fr-FR" dirty="0" err="1"/>
              <a:t>scaler</a:t>
            </a:r>
            <a:r>
              <a:rPr lang="fr-FR" dirty="0"/>
              <a:t>(x) = (x – </a:t>
            </a:r>
            <a:r>
              <a:rPr lang="fr-FR" dirty="0" err="1"/>
              <a:t>median</a:t>
            </a:r>
            <a:r>
              <a:rPr lang="fr-FR" dirty="0"/>
              <a:t>) / ((</a:t>
            </a:r>
            <a:r>
              <a:rPr lang="fr-FR" dirty="0" err="1"/>
              <a:t>median</a:t>
            </a:r>
            <a:r>
              <a:rPr lang="fr-FR" dirty="0"/>
              <a:t> – q25) if x &lt; </a:t>
            </a:r>
            <a:r>
              <a:rPr lang="fr-FR" dirty="0" err="1"/>
              <a:t>median</a:t>
            </a:r>
            <a:r>
              <a:rPr lang="fr-FR" dirty="0"/>
              <a:t> </a:t>
            </a:r>
            <a:r>
              <a:rPr lang="fr-FR" dirty="0" err="1"/>
              <a:t>else</a:t>
            </a:r>
            <a:r>
              <a:rPr lang="fr-FR" dirty="0"/>
              <a:t> (q75 – </a:t>
            </a:r>
            <a:r>
              <a:rPr lang="fr-FR" dirty="0" err="1"/>
              <a:t>median</a:t>
            </a:r>
            <a:r>
              <a:rPr lang="fr-FR" dirty="0"/>
              <a:t>))</a:t>
            </a:r>
          </a:p>
          <a:p>
            <a:pPr lvl="1"/>
            <a:r>
              <a:rPr lang="fr-FR" dirty="0"/>
              <a:t>Ne fonctionne pas correctement si la distribution a la forme d'une multi gaussienne</a:t>
            </a:r>
          </a:p>
          <a:p>
            <a:endParaRPr lang="fr-FR" dirty="0"/>
          </a:p>
          <a:p>
            <a:pPr lvl="1"/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C5DB9E2-CDD9-2C22-EB82-B11C04617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4101" y="4888514"/>
            <a:ext cx="3219899" cy="193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1948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802C71-87A2-2873-FDFE-478C21C8E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WDBC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20E4074-A874-A047-8296-ABAC0B850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Breast Cancer Wisconsin (Diagnostic) Data Set</a:t>
            </a:r>
          </a:p>
          <a:p>
            <a:r>
              <a:rPr lang="fr-FR" dirty="0"/>
              <a:t>Il s'agit d'un </a:t>
            </a:r>
            <a:r>
              <a:rPr lang="fr-FR" dirty="0" err="1"/>
              <a:t>dataset</a:t>
            </a:r>
            <a:r>
              <a:rPr lang="fr-FR" dirty="0"/>
              <a:t> de 32 </a:t>
            </a:r>
            <a:r>
              <a:rPr lang="fr-FR" dirty="0" err="1"/>
              <a:t>features</a:t>
            </a:r>
            <a:r>
              <a:rPr lang="fr-FR" dirty="0"/>
              <a:t> sur 569 data</a:t>
            </a:r>
          </a:p>
          <a:p>
            <a:pPr lvl="1"/>
            <a:r>
              <a:rPr lang="fr-FR" dirty="0"/>
              <a:t>diagnostic représente le diagnostique 1 = malade</a:t>
            </a:r>
          </a:p>
          <a:p>
            <a:r>
              <a:rPr lang="fr-FR" dirty="0"/>
              <a:t>Etude des poids</a:t>
            </a:r>
          </a:p>
          <a:p>
            <a:pPr lvl="1"/>
            <a:r>
              <a:rPr lang="fr-FR" dirty="0"/>
              <a:t>x = 30 </a:t>
            </a:r>
            <a:r>
              <a:rPr lang="fr-FR" dirty="0" err="1"/>
              <a:t>features</a:t>
            </a:r>
            <a:r>
              <a:rPr lang="fr-FR" dirty="0"/>
              <a:t> (tout sauf id et diagnostic)</a:t>
            </a:r>
          </a:p>
          <a:p>
            <a:pPr lvl="1"/>
            <a:r>
              <a:rPr lang="fr-FR" dirty="0" err="1"/>
              <a:t>xtrain</a:t>
            </a:r>
            <a:r>
              <a:rPr lang="fr-FR" dirty="0"/>
              <a:t> = 569*0.8*30 = 13656 data =&gt; 55Ko en 32 bits</a:t>
            </a:r>
          </a:p>
          <a:p>
            <a:endParaRPr lang="fr-FR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F40DD5B-9A4F-D948-3C83-5A95BB662C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67" y="4953000"/>
            <a:ext cx="904875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6612603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6902</TotalTime>
  <Words>1000</Words>
  <Application>Microsoft Office PowerPoint</Application>
  <PresentationFormat>Affichage à l'écran (4:3)</PresentationFormat>
  <Paragraphs>155</Paragraphs>
  <Slides>26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1" baseType="lpstr">
      <vt:lpstr>Arial</vt:lpstr>
      <vt:lpstr>Courier New</vt:lpstr>
      <vt:lpstr>Monotype Sorts</vt:lpstr>
      <vt:lpstr>Times New Roman</vt:lpstr>
      <vt:lpstr>cvc</vt:lpstr>
      <vt:lpstr>Présentation PowerPoint</vt:lpstr>
      <vt:lpstr>Nearest Neighbors</vt:lpstr>
      <vt:lpstr>Explication</vt:lpstr>
      <vt:lpstr>knn</vt:lpstr>
      <vt:lpstr>Algorithmes</vt:lpstr>
      <vt:lpstr>Modèle</vt:lpstr>
      <vt:lpstr>Zonage</vt:lpstr>
      <vt:lpstr>Problème détecté</vt:lpstr>
      <vt:lpstr>Biais vs Variance</vt:lpstr>
      <vt:lpstr>Décomposition de l’erreur</vt:lpstr>
      <vt:lpstr>Minimisation de l’erreur</vt:lpstr>
      <vt:lpstr>Entrainement et prédiction</vt:lpstr>
      <vt:lpstr>Résultats</vt:lpstr>
      <vt:lpstr>Heart Disease</vt:lpstr>
      <vt:lpstr>Problématique de kNN</vt:lpstr>
      <vt:lpstr>Normalisation</vt:lpstr>
      <vt:lpstr>MinMaxScaler</vt:lpstr>
      <vt:lpstr>Loi normale</vt:lpstr>
      <vt:lpstr>Ecart type</vt:lpstr>
      <vt:lpstr>Stats</vt:lpstr>
      <vt:lpstr>Théorème centrale limite</vt:lpstr>
      <vt:lpstr>StandardScaler</vt:lpstr>
      <vt:lpstr>Cas non gaussien</vt:lpstr>
      <vt:lpstr>Cas non gaussiens</vt:lpstr>
      <vt:lpstr>RobustScaler</vt:lpstr>
      <vt:lpstr>WDBC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350</cp:revision>
  <dcterms:created xsi:type="dcterms:W3CDTF">2000-04-10T19:33:12Z</dcterms:created>
  <dcterms:modified xsi:type="dcterms:W3CDTF">2026-04-28T09:57:51Z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